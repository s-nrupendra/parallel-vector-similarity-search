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6F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0F6FC"/>
                </a:solidFill>
                <a:latin typeface="Arial"/>
              </a:rPr>
              <a:t>Search Speedup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F78166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C8CFF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0F6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Sequential</c:v>
                </c:pt>
                <c:pt idx="1">
                  <c:v>OpenMP</c:v>
                </c:pt>
                <c:pt idx="2">
                  <c:v>SIMD+OpenMP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1.92</c:v>
                </c:pt>
                <c:pt idx="2">
                  <c:v>2.0099999999999998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750786304"/>
        <c:axId val="-1750776512"/>
      </c:barChart>
      <c:catAx>
        <c:axId val="-17507863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-1750776512"/>
        <c:crosses val="autoZero"/>
        <c:auto val="1"/>
        <c:lblAlgn val="ctr"/>
        <c:lblOffset val="100"/>
        <c:noMultiLvlLbl val="1"/>
      </c:catAx>
      <c:valAx>
        <c:axId val="-175077651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-1750786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C233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6F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0F6FC"/>
                </a:solidFill>
                <a:latin typeface="Arial"/>
              </a:rPr>
              <a:t>KMeans Speedup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F78166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0F6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Sequential</c:v>
                </c:pt>
                <c:pt idx="1">
                  <c:v>OpenMP+SIMD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6.83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750785760"/>
        <c:axId val="-1750782496"/>
      </c:barChart>
      <c:catAx>
        <c:axId val="-17507857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-1750782496"/>
        <c:crosses val="autoZero"/>
        <c:auto val="1"/>
        <c:lblAlgn val="ctr"/>
        <c:lblOffset val="100"/>
        <c:noMultiLvlLbl val="1"/>
      </c:catAx>
      <c:valAx>
        <c:axId val="-1750782496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-1750785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C2333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6F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0F6FC"/>
                </a:solidFill>
                <a:latin typeface="Arial"/>
              </a:rPr>
              <a:t>Search Speedup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F78166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C8CFF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0F6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Sequential</c:v>
                </c:pt>
                <c:pt idx="1">
                  <c:v>OpenMP</c:v>
                </c:pt>
                <c:pt idx="2">
                  <c:v>SIMD+OpenMP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1.92</c:v>
                </c:pt>
                <c:pt idx="2">
                  <c:v>2.0099999999999998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750779776"/>
        <c:axId val="-1750777600"/>
      </c:barChart>
      <c:catAx>
        <c:axId val="-17507797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-1750777600"/>
        <c:crosses val="autoZero"/>
        <c:auto val="1"/>
        <c:lblAlgn val="ctr"/>
        <c:lblOffset val="100"/>
        <c:noMultiLvlLbl val="1"/>
      </c:catAx>
      <c:valAx>
        <c:axId val="-175077760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-1750779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C2333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6F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0F6FC"/>
                </a:solidFill>
                <a:latin typeface="Arial"/>
              </a:rPr>
              <a:t>KMeans Speedup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F78166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0F6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Sequential</c:v>
                </c:pt>
                <c:pt idx="1">
                  <c:v>OpenMP+SIMD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6.83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750785216"/>
        <c:axId val="-1750784672"/>
      </c:barChart>
      <c:catAx>
        <c:axId val="-17507852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-1750784672"/>
        <c:crosses val="autoZero"/>
        <c:auto val="1"/>
        <c:lblAlgn val="ctr"/>
        <c:lblOffset val="100"/>
        <c:noMultiLvlLbl val="1"/>
      </c:catAx>
      <c:valAx>
        <c:axId val="-175078467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-1750785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C23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656713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0166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3141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9620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1648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4784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1652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5602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6685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87906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5442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7513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372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57032" y="502800"/>
            <a:ext cx="73200" cy="29262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85800" y="326215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3800"/>
              <a:buFont typeface="Calibri"/>
              <a:buNone/>
            </a:pPr>
            <a:r>
              <a:rPr lang="en-US" sz="3800" b="1" i="0" u="none" strike="noStrike" cap="none" dirty="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Parallel Vector Similarity</a:t>
            </a:r>
            <a:endParaRPr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3800"/>
              <a:buFont typeface="Calibri"/>
              <a:buNone/>
            </a:pPr>
            <a:r>
              <a:rPr lang="en-US" sz="3800" b="1" i="0" u="none" strike="noStrike" cap="none" dirty="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Search Engine</a:t>
            </a:r>
            <a:endParaRPr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34291" y="15591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High Performance Computing Project  |  ChEMBL Chemistry Dataset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98419" y="2400480"/>
            <a:ext cx="1417200" cy="347400"/>
          </a:xfrm>
          <a:prstGeom prst="roundRect">
            <a:avLst>
              <a:gd name="adj" fmla="val 21053"/>
            </a:avLst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798419" y="2400480"/>
            <a:ext cx="141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OpenMP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371187" y="2400480"/>
            <a:ext cx="1417200" cy="347400"/>
          </a:xfrm>
          <a:prstGeom prst="roundRect">
            <a:avLst>
              <a:gd name="adj" fmla="val 21053"/>
            </a:avLst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2371187" y="2400480"/>
            <a:ext cx="141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AVX2 / SIMD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943955" y="2400480"/>
            <a:ext cx="1417200" cy="347400"/>
          </a:xfrm>
          <a:prstGeom prst="roundRect">
            <a:avLst>
              <a:gd name="adj" fmla="val 21053"/>
            </a:avLst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943955" y="2400480"/>
            <a:ext cx="141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C++17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516723" y="2400480"/>
            <a:ext cx="1417200" cy="347400"/>
          </a:xfrm>
          <a:prstGeom prst="roundRect">
            <a:avLst>
              <a:gd name="adj" fmla="val 21053"/>
            </a:avLst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516723" y="2400480"/>
            <a:ext cx="141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RDKit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7089491" y="2400480"/>
            <a:ext cx="1417200" cy="347400"/>
          </a:xfrm>
          <a:prstGeom prst="roundRect">
            <a:avLst>
              <a:gd name="adj" fmla="val 21053"/>
            </a:avLst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7089491" y="2400480"/>
            <a:ext cx="141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KMeans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34291" y="295122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2,854,639 molecules  ·  2048-bit Morgan Fingerprints  ·  730 MB binary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0" y="5074920"/>
            <a:ext cx="9144000" cy="687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1C2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0" y="5074920"/>
            <a:ext cx="9144000" cy="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HPC Course Project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73;p3"/>
          <p:cNvSpPr/>
          <p:nvPr/>
        </p:nvSpPr>
        <p:spPr>
          <a:xfrm>
            <a:off x="6983799" y="3659215"/>
            <a:ext cx="2036618" cy="1039210"/>
          </a:xfrm>
          <a:prstGeom prst="roundRect">
            <a:avLst>
              <a:gd name="adj" fmla="val 21053"/>
            </a:avLst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rgbClr val="00B4D8"/>
              </a:buClr>
              <a:buSzPts val="1100"/>
            </a:pPr>
            <a:r>
              <a:rPr lang="en-US" sz="110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Authors:</a:t>
            </a:r>
          </a:p>
          <a:p>
            <a:pPr lvl="0" algn="just">
              <a:buClr>
                <a:srgbClr val="00B4D8"/>
              </a:buClr>
              <a:buSzPts val="1100"/>
            </a:pPr>
            <a:r>
              <a:rPr lang="en-US" sz="110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Jody 	– U23AI005</a:t>
            </a:r>
          </a:p>
          <a:p>
            <a:pPr lvl="0" algn="just">
              <a:buClr>
                <a:srgbClr val="00B4D8"/>
              </a:buClr>
              <a:buSzPts val="1100"/>
            </a:pPr>
            <a:r>
              <a:rPr lang="en-US" sz="110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Nikhil 	– U23AI007</a:t>
            </a:r>
          </a:p>
          <a:p>
            <a:pPr lvl="0" algn="just">
              <a:buClr>
                <a:srgbClr val="00B4D8"/>
              </a:buClr>
              <a:buSzPts val="1100"/>
            </a:pPr>
            <a:r>
              <a:rPr lang="en-US" sz="110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Nrupendra 	– U23AI055</a:t>
            </a:r>
          </a:p>
          <a:p>
            <a:pPr lvl="0" algn="just">
              <a:buClr>
                <a:srgbClr val="00B4D8"/>
              </a:buClr>
              <a:buSzPts val="1100"/>
            </a:pPr>
            <a:r>
              <a:rPr lang="en-US" sz="1100" dirty="0" err="1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Vidwath</a:t>
            </a:r>
            <a:r>
              <a:rPr lang="en-US" sz="110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	– U23AI067</a:t>
            </a:r>
          </a:p>
          <a:p>
            <a:pPr lvl="0">
              <a:buClr>
                <a:srgbClr val="00B4D8"/>
              </a:buClr>
              <a:buSzPts val="1100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65760" y="868680"/>
            <a:ext cx="4114800" cy="3291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502920" y="960120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What We Built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02920" y="1371600"/>
            <a:ext cx="3840600" cy="25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A fast search engine over 2.85M molecular fingerprint vectors. Given a query molecule, find the K most chemically similar molecules using Tanimoto similarity.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The same core operation powers modern vector databases like Pinecone and Milvus in AI/RAG pipelines.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663440" y="868680"/>
            <a:ext cx="4114800" cy="3291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800600" y="960120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Industry Relevance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800600" y="1371600"/>
            <a:ext cx="3840600" cy="25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①  </a:t>
            </a:r>
            <a:r>
              <a:rPr lang="en-US" sz="11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RAG in LLMs — when ChatGPT looks up relevant documents, vector search runs under the hood</a:t>
            </a:r>
            <a:r>
              <a:rPr lang="en-US" sz="11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1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1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②  </a:t>
            </a:r>
            <a:r>
              <a:rPr lang="en-US" sz="11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Drug Discovery — finding similar molecules to known drug candidates</a:t>
            </a:r>
            <a:r>
              <a:rPr lang="en-US" sz="11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1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1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③  </a:t>
            </a:r>
            <a:r>
              <a:rPr lang="en-US" sz="11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Vector DBs — Pinecone, Milvus, FAISS are all built on fast nearest-neighbor search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65760" y="4343400"/>
            <a:ext cx="8412600" cy="5943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161B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548640" y="4370832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2.85M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8640" y="4617720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Molecules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651760" y="4370832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2048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651760" y="4617720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Bits / Fingerprint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754880" y="4370832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730 MB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754880" y="4617720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Binary File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858000" y="4370832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Tanimoto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858000" y="4617720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Similarity Metric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Dataset &amp; Preprocessing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274320" y="868680"/>
            <a:ext cx="1554600" cy="1005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274320" y="886968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ChEMBL .txt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274320" y="1234440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chembl_id +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canonical_smiles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5"/>
          <p:cNvCxnSpPr/>
          <p:nvPr/>
        </p:nvCxnSpPr>
        <p:spPr>
          <a:xfrm>
            <a:off x="1847088" y="1371600"/>
            <a:ext cx="128100" cy="0"/>
          </a:xfrm>
          <a:prstGeom prst="straightConnector1">
            <a:avLst/>
          </a:prstGeom>
          <a:noFill/>
          <a:ln w="19050" cap="flat" cmpd="sng">
            <a:solidFill>
              <a:srgbClr val="8B94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" name="Google Shape;113;p5"/>
          <p:cNvSpPr/>
          <p:nvPr/>
        </p:nvSpPr>
        <p:spPr>
          <a:xfrm>
            <a:off x="1993392" y="868680"/>
            <a:ext cx="1554600" cy="1005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1993392" y="886968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RDKit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993392" y="1234440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Morgan FP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radius=2, 2048 bits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5"/>
          <p:cNvCxnSpPr/>
          <p:nvPr/>
        </p:nvCxnSpPr>
        <p:spPr>
          <a:xfrm>
            <a:off x="3566160" y="1371600"/>
            <a:ext cx="128100" cy="0"/>
          </a:xfrm>
          <a:prstGeom prst="straightConnector1">
            <a:avLst/>
          </a:prstGeom>
          <a:noFill/>
          <a:ln w="19050" cap="flat" cmpd="sng">
            <a:solidFill>
              <a:srgbClr val="8B94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" name="Google Shape;117;p5"/>
          <p:cNvSpPr/>
          <p:nvPr/>
        </p:nvSpPr>
        <p:spPr>
          <a:xfrm>
            <a:off x="3712464" y="868680"/>
            <a:ext cx="1554600" cy="1005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3712464" y="886968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np.packbits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712464" y="1234440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2048 uint8 →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256 bytes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5"/>
          <p:cNvCxnSpPr/>
          <p:nvPr/>
        </p:nvCxnSpPr>
        <p:spPr>
          <a:xfrm>
            <a:off x="5285232" y="1371600"/>
            <a:ext cx="128100" cy="0"/>
          </a:xfrm>
          <a:prstGeom prst="straightConnector1">
            <a:avLst/>
          </a:prstGeom>
          <a:noFill/>
          <a:ln w="19050" cap="flat" cmpd="sng">
            <a:solidFill>
              <a:srgbClr val="8B94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" name="Google Shape;121;p5"/>
          <p:cNvSpPr/>
          <p:nvPr/>
        </p:nvSpPr>
        <p:spPr>
          <a:xfrm>
            <a:off x="5431536" y="868680"/>
            <a:ext cx="1554600" cy="1005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5431536" y="886968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uint64 pack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431536" y="1234440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256 bytes →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32 × uint64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5"/>
          <p:cNvCxnSpPr/>
          <p:nvPr/>
        </p:nvCxnSpPr>
        <p:spPr>
          <a:xfrm>
            <a:off x="7004304" y="1371600"/>
            <a:ext cx="128100" cy="0"/>
          </a:xfrm>
          <a:prstGeom prst="straightConnector1">
            <a:avLst/>
          </a:prstGeom>
          <a:noFill/>
          <a:ln w="19050" cap="flat" cmpd="sng">
            <a:solidFill>
              <a:srgbClr val="8B94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" name="Google Shape;125;p5"/>
          <p:cNvSpPr/>
          <p:nvPr/>
        </p:nvSpPr>
        <p:spPr>
          <a:xfrm>
            <a:off x="7150608" y="868680"/>
            <a:ext cx="1554600" cy="1005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3FB9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7150608" y="886968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.bin file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150608" y="1234440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730 MB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C++ ready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65760" y="2057400"/>
            <a:ext cx="8412600" cy="14172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548640" y="2121408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Why uint64 Packing?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48640" y="2423160"/>
            <a:ext cx="8046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RDKit outputs each bit as a separate uint8 — 2048 bytes per molecule (7 bits wasted per bit!).</a:t>
            </a:r>
            <a:br>
              <a:rPr lang="en-US" sz="11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Packing into uint64 reduces this to 256 bytes/molecule (8× smaller) and enables AVX2 to process </a:t>
            </a:r>
            <a:r>
              <a:rPr lang="en-US" sz="115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4 words simultaneously</a:t>
            </a:r>
            <a:r>
              <a:rPr lang="en-US" sz="11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 with a single instruction.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57200" y="3657600"/>
            <a:ext cx="2606100" cy="8229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457200" y="3675888"/>
            <a:ext cx="2606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57200" y="3877056"/>
            <a:ext cx="260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2048 × uint8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57200" y="4160520"/>
            <a:ext cx="2606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= 2048 bytes / molecule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291840" y="3657600"/>
            <a:ext cx="2606100" cy="8229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3FB9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3291840" y="3675888"/>
            <a:ext cx="2606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291840" y="3877056"/>
            <a:ext cx="260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32 × uint64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291840" y="4160520"/>
            <a:ext cx="2606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= 256 bytes / molecule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126480" y="3657600"/>
            <a:ext cx="2606100" cy="8229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6126480" y="3675888"/>
            <a:ext cx="2606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Saving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126480" y="3877056"/>
            <a:ext cx="260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8× smaller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126480" y="4160520"/>
            <a:ext cx="2606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same data, packed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Distance Metric — Tanimoto Similarity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371600" y="822960"/>
            <a:ext cx="6400800" cy="1005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1371600" y="822960"/>
            <a:ext cx="64008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T(A, B)  =  popcount( A  AND  B )  /  popcount( A  OR  B 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65760" y="2011680"/>
            <a:ext cx="4069200" cy="7131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3FB9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365760" y="2011680"/>
            <a:ext cx="822900" cy="713100"/>
          </a:xfrm>
          <a:prstGeom prst="rect">
            <a:avLst/>
          </a:prstGeom>
          <a:solidFill>
            <a:srgbClr val="3FB950"/>
          </a:solidFill>
          <a:ln w="12700" cap="flat" cmpd="sng">
            <a:solidFill>
              <a:srgbClr val="3FB9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365760" y="2011680"/>
            <a:ext cx="8229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D1117"/>
                </a:solidFill>
                <a:latin typeface="Consolas"/>
                <a:ea typeface="Consolas"/>
                <a:cs typeface="Consolas"/>
                <a:sym typeface="Consolas"/>
              </a:rPr>
              <a:t>1.0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280160" y="2011680"/>
            <a:ext cx="30633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Identical molecules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65760" y="2880360"/>
            <a:ext cx="4069200" cy="7131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365760" y="2880360"/>
            <a:ext cx="822900" cy="713100"/>
          </a:xfrm>
          <a:prstGeom prst="rect">
            <a:avLst/>
          </a:prstGeom>
          <a:solidFill>
            <a:srgbClr val="F78166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365760" y="2880360"/>
            <a:ext cx="8229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D1117"/>
                </a:solidFill>
                <a:latin typeface="Consolas"/>
                <a:ea typeface="Consolas"/>
                <a:cs typeface="Consolas"/>
                <a:sym typeface="Consolas"/>
              </a:rPr>
              <a:t>0.0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280160" y="2880360"/>
            <a:ext cx="30633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Completely different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663440" y="2011680"/>
            <a:ext cx="4069200" cy="7131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663440" y="2011680"/>
            <a:ext cx="822900" cy="7131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663440" y="2011680"/>
            <a:ext cx="8229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D1117"/>
                </a:solidFill>
                <a:latin typeface="Consolas"/>
                <a:ea typeface="Consolas"/>
                <a:cs typeface="Consolas"/>
                <a:sym typeface="Consolas"/>
              </a:rPr>
              <a:t>bits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577840" y="2011680"/>
            <a:ext cx="30633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No floating point — pure bitwise ops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663440" y="2880360"/>
            <a:ext cx="4069200" cy="7131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4663440" y="2880360"/>
            <a:ext cx="822900" cy="713100"/>
          </a:xfrm>
          <a:prstGeom prst="rect">
            <a:avLst/>
          </a:prstGeom>
          <a:solidFill>
            <a:srgbClr val="BC8CFF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663440" y="2880360"/>
            <a:ext cx="8229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D1117"/>
                </a:solidFill>
                <a:latin typeface="Consolas"/>
                <a:ea typeface="Consolas"/>
                <a:cs typeface="Consolas"/>
                <a:sym typeface="Consolas"/>
              </a:rPr>
              <a:t>fast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577840" y="2880360"/>
            <a:ext cx="30633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AND + OR + POPCNT = single CPU instructions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65760" y="3840480"/>
            <a:ext cx="8412600" cy="7773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48640" y="3840480"/>
            <a:ext cx="81381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Why ideal for HPC:  </a:t>
            </a:r>
            <a:r>
              <a:rPr lang="en-US" sz="11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Each molecule comparison = 32 iterations of (AND / OR / POPCNT). No dependencies between molecules → embarrassingly parallel. SIMD processes 4 words per instruction.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78166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Step 1 — Sequential Search (Baseline)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65760" y="822960"/>
            <a:ext cx="4572000" cy="29262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502920" y="886968"/>
            <a:ext cx="4297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02920" y="1261872"/>
            <a:ext cx="43434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1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One molecule at a time, on ONE CPU core</a:t>
            </a:r>
            <a:br>
              <a:rPr lang="en-US" sz="11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1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All other cores sit idle</a:t>
            </a:r>
            <a:br>
              <a:rPr lang="en-US" sz="11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1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Min-heap of size K tracks top results without sorting 2.85M scores</a:t>
            </a:r>
            <a:br>
              <a:rPr lang="en-US" sz="11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1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Establishes correctness baseline — all parallel versions must match this output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120640" y="822960"/>
            <a:ext cx="3657600" cy="29262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5257800" y="886968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257800" y="1417320"/>
            <a:ext cx="3383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117.45 ms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257800" y="2103120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1.00× baseline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257800" y="2514600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Top-5 Results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166360" y="2834640"/>
            <a:ext cx="3474600" cy="173700"/>
          </a:xfrm>
          <a:prstGeom prst="rect">
            <a:avLst/>
          </a:prstGeom>
          <a:solidFill>
            <a:srgbClr val="3FB950"/>
          </a:solidFill>
          <a:ln w="12700" cap="flat" cmpd="sng">
            <a:solidFill>
              <a:srgbClr val="3FB9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5166360" y="2834640"/>
            <a:ext cx="34746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0D1117"/>
                </a:solidFill>
                <a:latin typeface="Consolas"/>
                <a:ea typeface="Consolas"/>
                <a:cs typeface="Consolas"/>
                <a:sym typeface="Consolas"/>
              </a:rPr>
              <a:t>mol[0]   1.000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166360" y="3017520"/>
            <a:ext cx="3474600" cy="1737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161B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5166360" y="3017520"/>
            <a:ext cx="34746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0F6FC"/>
                </a:solidFill>
                <a:latin typeface="Consolas"/>
                <a:ea typeface="Consolas"/>
                <a:cs typeface="Consolas"/>
                <a:sym typeface="Consolas"/>
              </a:rPr>
              <a:t>mol[1976465]   0.818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166360" y="3200400"/>
            <a:ext cx="3474600" cy="1737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161B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166360" y="3200400"/>
            <a:ext cx="34746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0F6FC"/>
                </a:solidFill>
                <a:latin typeface="Consolas"/>
                <a:ea typeface="Consolas"/>
                <a:cs typeface="Consolas"/>
                <a:sym typeface="Consolas"/>
              </a:rPr>
              <a:t>mol[946058]   0.689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166360" y="3383280"/>
            <a:ext cx="3474600" cy="1737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161B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5166360" y="3383280"/>
            <a:ext cx="34746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0F6FC"/>
                </a:solidFill>
                <a:latin typeface="Consolas"/>
                <a:ea typeface="Consolas"/>
                <a:cs typeface="Consolas"/>
                <a:sym typeface="Consolas"/>
              </a:rPr>
              <a:t>mol[13036]   0.608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166360" y="3566160"/>
            <a:ext cx="3474600" cy="1737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161B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5166360" y="3566160"/>
            <a:ext cx="34746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0F6FC"/>
                </a:solidFill>
                <a:latin typeface="Consolas"/>
                <a:ea typeface="Consolas"/>
                <a:cs typeface="Consolas"/>
                <a:sym typeface="Consolas"/>
              </a:rPr>
              <a:t>mol[346570]   0.596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65760" y="3931920"/>
            <a:ext cx="8412600" cy="6402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161B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548640" y="39319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This is the 1× reference. Every parallel method is benchmarked against this time and must produce identical top-5 results.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Step 2 — OpenMP Parallel Search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65760" y="822960"/>
            <a:ext cx="3291900" cy="29262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502920" y="886968"/>
            <a:ext cx="301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Core Distribution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57200" y="1280160"/>
            <a:ext cx="3063300" cy="2469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57200" y="1280160"/>
            <a:ext cx="3063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0F6FC"/>
                </a:solidFill>
                <a:latin typeface="Consolas"/>
                <a:ea typeface="Consolas"/>
                <a:cs typeface="Consolas"/>
                <a:sym typeface="Consolas"/>
              </a:rPr>
              <a:t>Core 1  →  0 → 356K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57200" y="1572768"/>
            <a:ext cx="3063300" cy="2469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457200" y="1572768"/>
            <a:ext cx="3063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0F6FC"/>
                </a:solidFill>
                <a:latin typeface="Consolas"/>
                <a:ea typeface="Consolas"/>
                <a:cs typeface="Consolas"/>
                <a:sym typeface="Consolas"/>
              </a:rPr>
              <a:t>Core 2  →  357K → 713K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57200" y="1865376"/>
            <a:ext cx="3063300" cy="2469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457200" y="1865376"/>
            <a:ext cx="3063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0F6FC"/>
                </a:solidFill>
                <a:latin typeface="Consolas"/>
                <a:ea typeface="Consolas"/>
                <a:cs typeface="Consolas"/>
                <a:sym typeface="Consolas"/>
              </a:rPr>
              <a:t>Core 3  →  714K → 1.07M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57200" y="2157984"/>
            <a:ext cx="3063300" cy="2469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57200" y="2157984"/>
            <a:ext cx="3063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0F6FC"/>
                </a:solidFill>
                <a:latin typeface="Consolas"/>
                <a:ea typeface="Consolas"/>
                <a:cs typeface="Consolas"/>
                <a:sym typeface="Consolas"/>
              </a:rPr>
              <a:t>Core 4  →  1.07M → 1.43M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57200" y="2450592"/>
            <a:ext cx="3063300" cy="2469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457200" y="2450592"/>
            <a:ext cx="3063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0F6FC"/>
                </a:solidFill>
                <a:latin typeface="Consolas"/>
                <a:ea typeface="Consolas"/>
                <a:cs typeface="Consolas"/>
                <a:sym typeface="Consolas"/>
              </a:rPr>
              <a:t>Core 5  →  1.43M → 1.78M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57200" y="2743200"/>
            <a:ext cx="3063300" cy="2469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457200" y="2743200"/>
            <a:ext cx="3063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0F6FC"/>
                </a:solidFill>
                <a:latin typeface="Consolas"/>
                <a:ea typeface="Consolas"/>
                <a:cs typeface="Consolas"/>
                <a:sym typeface="Consolas"/>
              </a:rPr>
              <a:t>Core 6  →  1.78M → 2.14M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57200" y="3035808"/>
            <a:ext cx="3063300" cy="2469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457200" y="3035808"/>
            <a:ext cx="3063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0F6FC"/>
                </a:solidFill>
                <a:latin typeface="Consolas"/>
                <a:ea typeface="Consolas"/>
                <a:cs typeface="Consolas"/>
                <a:sym typeface="Consolas"/>
              </a:rPr>
              <a:t>Core 7  →  2.14M → 2.50M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57200" y="3328416"/>
            <a:ext cx="3063300" cy="2469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57200" y="3328416"/>
            <a:ext cx="3063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0F6FC"/>
                </a:solidFill>
                <a:latin typeface="Consolas"/>
                <a:ea typeface="Consolas"/>
                <a:cs typeface="Consolas"/>
                <a:sym typeface="Consolas"/>
              </a:rPr>
              <a:t>Core 8  →  2.50M → 2.85M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3840480" y="822960"/>
            <a:ext cx="4937700" cy="13260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3977640" y="886968"/>
            <a:ext cx="4663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⚠  Race Condition Problem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3977640" y="1216152"/>
            <a:ext cx="46635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Two threads writing to the same heap simultaneously → corrupted data → wrong results.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840480" y="2286000"/>
            <a:ext cx="4937700" cy="14631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3977640" y="2350008"/>
            <a:ext cx="4663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Solution — Local Heaps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3977640" y="2715768"/>
            <a:ext cx="4663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Each thread gets its own private heap → no conflicts</a:t>
            </a:r>
            <a:b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Main thread merges all local heaps at the end → safe</a:t>
            </a:r>
            <a:b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N local heaps (size K)  →  merge  →  1 final heap (size K)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65760" y="3931920"/>
            <a:ext cx="8412600" cy="8688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548640" y="3959352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167.95 ms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548640" y="4361688"/>
            <a:ext cx="19203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Sequential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2651760" y="3959352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51.51 ms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2651760" y="4361688"/>
            <a:ext cx="19203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OpenMP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754880" y="3959352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3.26×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754880" y="4361688"/>
            <a:ext cx="19203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Speedup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6858000" y="3959352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MATCH ✓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858000" y="4361688"/>
            <a:ext cx="19203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vs Sequential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BC8CFF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Step 3 — SIMD / AVX2 Optimization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365760" y="822960"/>
            <a:ext cx="8412600" cy="12345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548640" y="868680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SIMD = Single Instruction, Multiple Data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548640" y="1234440"/>
            <a:ext cx="1828800" cy="5028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8B94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548640" y="1234440"/>
            <a:ext cx="1828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uint64_0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48640" y="1755648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Normal: 64-bit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3200400" y="1234440"/>
            <a:ext cx="1261800" cy="5028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3200400" y="1234440"/>
            <a:ext cx="1261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uint64_0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526280" y="1234440"/>
            <a:ext cx="1261800" cy="5028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4526280" y="1234440"/>
            <a:ext cx="1261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uint64_1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5852160" y="1234440"/>
            <a:ext cx="1261800" cy="5028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5852160" y="1234440"/>
            <a:ext cx="1261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uint64_2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7178040" y="1234440"/>
            <a:ext cx="1261800" cy="5028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7178040" y="1234440"/>
            <a:ext cx="1261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uint64_3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200400" y="1755648"/>
            <a:ext cx="5303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AVX2: 256-bit — 4 × uint64 at once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65760" y="2148840"/>
            <a:ext cx="2651700" cy="1005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365760" y="2176272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Normal Loop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365760" y="2450592"/>
            <a:ext cx="2651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32 iterations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365760" y="2807208"/>
            <a:ext cx="265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 word per iteration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3200400" y="2148840"/>
            <a:ext cx="2651700" cy="1005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3200400" y="2176272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AVX2 Loop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3200400" y="2450592"/>
            <a:ext cx="2651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8 iterations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3200400" y="2807208"/>
            <a:ext cx="265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4 words per iteration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035040" y="2148840"/>
            <a:ext cx="2651700" cy="1005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6035040" y="2176272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Speedup per call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035040" y="2450592"/>
            <a:ext cx="2651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~4×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6035040" y="2807208"/>
            <a:ext cx="265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fewer loop iterations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365760" y="3310128"/>
            <a:ext cx="8412600" cy="6858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548640" y="33101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Why only 2.01× total?  </a:t>
            </a: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The workload is memory-bound — reading 730 MB from RAM is the bottleneck, not compute. The -O2 compiler flag also auto-vectorizes simple loops, so sequential already uses partial SIMD.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365760" y="4160520"/>
            <a:ext cx="8412600" cy="6858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548640" y="4178808"/>
            <a:ext cx="19203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117.45 ms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48640" y="4507992"/>
            <a:ext cx="19203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Sequential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2651760" y="4178808"/>
            <a:ext cx="19203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61.26 ms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2651760" y="4507992"/>
            <a:ext cx="19203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OpenMP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4754880" y="4178808"/>
            <a:ext cx="19203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58.42 ms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754880" y="4507992"/>
            <a:ext cx="19203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SIMD+OpenMP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6858000" y="4178808"/>
            <a:ext cx="19203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2.01×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6858000" y="4507992"/>
            <a:ext cx="19203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Speedup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78166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457200" y="16459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Amdahl's Law — Theory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1097280" y="804672"/>
            <a:ext cx="6949500" cy="8688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1097280" y="804672"/>
            <a:ext cx="69495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2200"/>
              <a:buFont typeface="Consolas"/>
              <a:buNone/>
            </a:pPr>
            <a:r>
              <a:rPr lang="en-US" sz="2200" b="1" i="0" u="none" strike="noStrike" cap="none">
                <a:solidFill>
                  <a:srgbClr val="F78166"/>
                </a:solidFill>
                <a:latin typeface="Consolas"/>
                <a:ea typeface="Consolas"/>
                <a:cs typeface="Consolas"/>
                <a:sym typeface="Consolas"/>
              </a:rPr>
              <a:t>Speedup  =  1  /  [ (1 − P)  +  P / N ]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365760" y="1828800"/>
            <a:ext cx="2651700" cy="621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365760" y="1828800"/>
            <a:ext cx="502800" cy="621900"/>
          </a:xfrm>
          <a:prstGeom prst="rect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365760" y="1828800"/>
            <a:ext cx="5028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D1117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932688" y="1828800"/>
            <a:ext cx="20118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Parallel fraction of the program (0 → 1)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3200400" y="1828800"/>
            <a:ext cx="2651700" cy="621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3200400" y="1828800"/>
            <a:ext cx="502800" cy="621900"/>
          </a:xfrm>
          <a:prstGeom prst="rect">
            <a:avLst/>
          </a:prstGeom>
          <a:solidFill>
            <a:srgbClr val="F78166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3200400" y="1828800"/>
            <a:ext cx="5028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D1117"/>
                </a:solidFill>
                <a:latin typeface="Consolas"/>
                <a:ea typeface="Consolas"/>
                <a:cs typeface="Consolas"/>
                <a:sym typeface="Consolas"/>
              </a:rPr>
              <a:t>1−P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3767328" y="1828800"/>
            <a:ext cx="20118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Sequential fraction that cannot be parallelized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6035040" y="1828800"/>
            <a:ext cx="2651700" cy="621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6035040" y="1828800"/>
            <a:ext cx="502800" cy="6219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6035040" y="1828800"/>
            <a:ext cx="5028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D1117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6601968" y="1828800"/>
            <a:ext cx="20118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Number of CPU cores / threads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p10"/>
          <p:cNvGraphicFramePr/>
          <p:nvPr/>
        </p:nvGraphicFramePr>
        <p:xfrm>
          <a:off x="365760" y="2606040"/>
          <a:ext cx="5303500" cy="2331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2" name="Google Shape;302;p10"/>
          <p:cNvSpPr/>
          <p:nvPr/>
        </p:nvSpPr>
        <p:spPr>
          <a:xfrm>
            <a:off x="5806440" y="2606040"/>
            <a:ext cx="2971800" cy="7131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5943600" y="262432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Sequential Ceiling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5943600" y="2852928"/>
            <a:ext cx="27432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Even with infinite cores, speedup is bounded by 1/(1−P). If 10% is sequential, max speedup = 10×.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5806440" y="3401568"/>
            <a:ext cx="2971800" cy="7131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5943600" y="341985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Diminishing Returns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5943600" y="3648456"/>
            <a:ext cx="27432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Each additional core contributes less. Going 1→2 cores helps far more than going 32→64 cores.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5806440" y="4197096"/>
            <a:ext cx="2971800" cy="7131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5943600" y="4215384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Real Bottlenecks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5943600" y="4443984"/>
            <a:ext cx="27432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Memory bandwidth, thread overhead, and I/O are hidden sequential fractions that reduce P below what you expect.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78166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457200" y="16459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Amdahl's Law — Applied to Our Results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457200" y="65836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Why don't we get perfect N× speedup?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8" name="Google Shape;318;p11"/>
          <p:cNvGraphicFramePr/>
          <p:nvPr/>
        </p:nvGraphicFramePr>
        <p:xfrm>
          <a:off x="365760" y="1024128"/>
          <a:ext cx="512062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9" name="Google Shape;319;p11"/>
          <p:cNvSpPr/>
          <p:nvPr/>
        </p:nvSpPr>
        <p:spPr>
          <a:xfrm>
            <a:off x="5623560" y="1024128"/>
            <a:ext cx="3154800" cy="27432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5760720" y="1078992"/>
            <a:ext cx="2834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Root Causes of Gap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5715000" y="1444752"/>
            <a:ext cx="2926200" cy="4755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5715000" y="1444752"/>
            <a:ext cx="914400" cy="73200"/>
          </a:xfrm>
          <a:prstGeom prst="rect">
            <a:avLst/>
          </a:prstGeom>
          <a:solidFill>
            <a:srgbClr val="F78166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5806440" y="1517904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Memory Bandwidth  </a:t>
            </a:r>
            <a:r>
              <a:rPr lang="en-US" sz="95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~40%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5806440" y="1719072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All cores compete to read 730 MB simultaneously — RAM, not CPU, is the limit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5715000" y="1993392"/>
            <a:ext cx="2926200" cy="4755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5715000" y="1993392"/>
            <a:ext cx="914400" cy="73200"/>
          </a:xfrm>
          <a:prstGeom prst="rect">
            <a:avLst/>
          </a:prstGeom>
          <a:solidFill>
            <a:srgbClr val="BC8CFF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5806440" y="2066544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WSL Overhead  </a:t>
            </a:r>
            <a:r>
              <a:rPr lang="en-US" sz="95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~30%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5806440" y="2267712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Thread management on Windows Subsystem for Linux adds hidden sequential cost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5715000" y="2542032"/>
            <a:ext cx="2926200" cy="4755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5715000" y="2542032"/>
            <a:ext cx="914400" cy="732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5806440" y="2615184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Merge Step  </a:t>
            </a:r>
            <a:r>
              <a:rPr lang="en-US" sz="95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~15%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5806440" y="2816352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Combining local heaps back into final result runs on a single thread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5715000" y="3090672"/>
            <a:ext cx="2926200" cy="4755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5715000" y="3090672"/>
            <a:ext cx="914400" cy="73200"/>
          </a:xfrm>
          <a:prstGeom prst="rect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5806440" y="3163824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Thread Spawn  </a:t>
            </a:r>
            <a:r>
              <a:rPr lang="en-US" sz="95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~15%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5806440" y="3364992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Creating and synchronizing threads has fixed overhead per search call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365760" y="3913632"/>
            <a:ext cx="8412600" cy="10059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F78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548640" y="3950208"/>
            <a:ext cx="8046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Our Numbers Mapped to Amdahl's Formula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548640" y="4224528"/>
            <a:ext cx="8046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Search (OpenMP):  </a:t>
            </a:r>
            <a:r>
              <a:rPr lang="en-US" sz="9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3.26× observed  →  implies P ≈ 68%  →  32% sequential overhead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548640" y="4453128"/>
            <a:ext cx="8046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Search (SIMD+OMP):  </a:t>
            </a:r>
            <a:r>
              <a:rPr lang="en-US" sz="9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2.01× observed  →  memory-bound, compute speedup cancelled by RAM wait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548640" y="4681728"/>
            <a:ext cx="8046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KMeans (OMP+SIMD):  </a:t>
            </a:r>
            <a:r>
              <a:rPr lang="en-US" sz="9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6.83× observed  →  implies P ≈ 91%  →  compute-heavy, less memory pressure per op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Step 4 — KMeans Clustering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365760" y="795528"/>
            <a:ext cx="1965900" cy="2925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2"/>
          <p:cNvSpPr/>
          <p:nvPr/>
        </p:nvSpPr>
        <p:spPr>
          <a:xfrm>
            <a:off x="365760" y="795528"/>
            <a:ext cx="196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 = 100 clusters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2487168" y="795528"/>
            <a:ext cx="1965900" cy="2925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2487168" y="795528"/>
            <a:ext cx="196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Max 20 iterations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4608576" y="795528"/>
            <a:ext cx="1965900" cy="2925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4608576" y="795528"/>
            <a:ext cx="196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Converged @ iter 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6729984" y="795528"/>
            <a:ext cx="1965900" cy="2925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6729984" y="795528"/>
            <a:ext cx="196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Tanimoto distance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365760" y="1207008"/>
            <a:ext cx="4114800" cy="25602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502920" y="1271016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75488" y="1682496"/>
            <a:ext cx="255900" cy="25590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475488" y="168249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804672" y="1682496"/>
            <a:ext cx="3520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Pick 100 random molecules as initial centroids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475488" y="2093976"/>
            <a:ext cx="255900" cy="25590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475488" y="209397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804672" y="2093976"/>
            <a:ext cx="3520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Assign each molecule to its nearest centroid (Tanimoto)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475488" y="2505456"/>
            <a:ext cx="255900" cy="25590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475488" y="250545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804672" y="2505456"/>
            <a:ext cx="3520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Recompute centroids via majority vote on each bit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475488" y="2916936"/>
            <a:ext cx="255900" cy="25590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475488" y="291693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804672" y="2916936"/>
            <a:ext cx="3520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If no molecule changed cluster → converged early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475488" y="3328416"/>
            <a:ext cx="255900" cy="25590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475488" y="332841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804672" y="3328416"/>
            <a:ext cx="3520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Repeat up to 20 iterations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4663440" y="1207008"/>
            <a:ext cx="4114800" cy="25602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4800600" y="1271016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Where Parallelism Helps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4800600" y="1664208"/>
            <a:ext cx="3840600" cy="20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285 million Tanimoto calls per iteration</a:t>
            </a:r>
            <a:br>
              <a:rPr lang="en-US" sz="1100" b="1" i="0" u="none" strike="noStrike" cap="non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(2.85M molecules × 100 centroids)</a:t>
            </a:r>
            <a:br>
              <a:rPr lang="en-US" sz="11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1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1" i="0" u="none" strike="noStrike" cap="non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Assignment step:</a:t>
            </a: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 #pragma omp parallel for — each molecule's assignment is independent</a:t>
            </a:r>
            <a:b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1" i="0" u="none" strike="noStrike" cap="non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SIMD:</a:t>
            </a: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 AVX2 tanimoto inside the parallel loop</a:t>
            </a:r>
            <a:b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1" i="0" u="none" strike="noStrike" cap="non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Update step:</a:t>
            </a: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 parallel majority vote per cluster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365760" y="3931920"/>
            <a:ext cx="8412600" cy="8688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457200" y="3959352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191,694 ms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457200" y="4361688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Sequential (~3.2 min)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2560320" y="3959352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28,068 ms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2560320" y="4361688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OpenMP+SIMD (~28 sec)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4663440" y="3959352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6.83×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4663440" y="4361688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Speedup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6766560" y="3959352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6766560" y="4361688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Iterations to converge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3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Full Benchmark Summary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365760" y="822960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Similarity Search  (K=5, 2.85M molecules)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365760" y="1188720"/>
            <a:ext cx="4114800" cy="3291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457200" y="1188720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2286000" y="1188720"/>
            <a:ext cx="1097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3383280" y="1188720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Speedup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365760" y="1536192"/>
            <a:ext cx="4114800" cy="3291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1C2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457200" y="1536192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Sequential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2286000" y="1536192"/>
            <a:ext cx="1097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117.45 ms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3383280" y="1536192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1.00×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365760" y="1883664"/>
            <a:ext cx="4114800" cy="3291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161B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457200" y="1883664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OpenMP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2286000" y="1883664"/>
            <a:ext cx="1097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61.26 ms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3383280" y="1883664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1.92×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365760" y="2231136"/>
            <a:ext cx="4114800" cy="3291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1C2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457200" y="2231136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SIMD + OpenMP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2286000" y="2231136"/>
            <a:ext cx="1097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58.42 ms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3383280" y="2231136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2.01×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4663440" y="822960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KMeans Clustering  (K=100, 9 iterations, 2.85M molecules)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4663440" y="1188720"/>
            <a:ext cx="4114800" cy="3291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4754880" y="1188720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6583680" y="1188720"/>
            <a:ext cx="1097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7680960" y="1188720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Speedup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4663440" y="1536192"/>
            <a:ext cx="4114800" cy="3291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1C2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4754880" y="1536192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Sequential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6583680" y="1536192"/>
            <a:ext cx="1097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191,694 ms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7680960" y="1536192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1.00×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4663440" y="1883664"/>
            <a:ext cx="4114800" cy="3291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161B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4754880" y="1883664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OpenMP+SIMD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6583680" y="1883664"/>
            <a:ext cx="1097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28,068 ms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7680960" y="1883664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6.83×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3" name="Google Shape;423;p13"/>
          <p:cNvGraphicFramePr/>
          <p:nvPr/>
        </p:nvGraphicFramePr>
        <p:xfrm>
          <a:off x="365760" y="251460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24" name="Google Shape;424;p13"/>
          <p:cNvGraphicFramePr/>
          <p:nvPr/>
        </p:nvGraphicFramePr>
        <p:xfrm>
          <a:off x="4663440" y="251460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4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4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365760" y="822960"/>
            <a:ext cx="5029200" cy="30174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502920" y="886968"/>
            <a:ext cx="4755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475488" y="1298448"/>
            <a:ext cx="54900" cy="3201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4"/>
          <p:cNvSpPr/>
          <p:nvPr/>
        </p:nvSpPr>
        <p:spPr>
          <a:xfrm>
            <a:off x="640080" y="1298448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OpenMP:  </a:t>
            </a: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Easy to add, meaningful speedup — 3.26× on search, 6.83× on KMeans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475488" y="1773936"/>
            <a:ext cx="54900" cy="3201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4"/>
          <p:cNvSpPr/>
          <p:nvPr/>
        </p:nvSpPr>
        <p:spPr>
          <a:xfrm>
            <a:off x="640080" y="1773936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SIMD/AVX2:  </a:t>
            </a: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Speeds up individual ops but memory bandwidth is the real bottleneck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475488" y="2249424"/>
            <a:ext cx="54900" cy="3201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4"/>
          <p:cNvSpPr/>
          <p:nvPr/>
        </p:nvSpPr>
        <p:spPr>
          <a:xfrm>
            <a:off x="640080" y="2249424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Memory-bound:  </a:t>
            </a: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730 MB reads dominate — parallelism helps most on compute-heavy tasks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475488" y="2724912"/>
            <a:ext cx="54900" cy="3201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4"/>
          <p:cNvSpPr/>
          <p:nvPr/>
        </p:nvSpPr>
        <p:spPr>
          <a:xfrm>
            <a:off x="640080" y="2724912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Correctness:  </a:t>
            </a: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All parallel versions produce identical top-K results to sequential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475488" y="3200400"/>
            <a:ext cx="54900" cy="3201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4"/>
          <p:cNvSpPr/>
          <p:nvPr/>
        </p:nvSpPr>
        <p:spPr>
          <a:xfrm>
            <a:off x="640080" y="3200400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Amdahl's Law:  </a:t>
            </a:r>
            <a:r>
              <a:rPr lang="en-US" sz="1100" b="0" i="0" u="none" strike="noStrike" cap="non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Observed in practice — merge/IO overhead limits max speedup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5577840" y="822960"/>
            <a:ext cx="3200400" cy="30174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4"/>
          <p:cNvSpPr/>
          <p:nvPr/>
        </p:nvSpPr>
        <p:spPr>
          <a:xfrm>
            <a:off x="5715000" y="886968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5669280" y="1316736"/>
            <a:ext cx="2926200" cy="6858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4"/>
          <p:cNvSpPr/>
          <p:nvPr/>
        </p:nvSpPr>
        <p:spPr>
          <a:xfrm>
            <a:off x="5669280" y="1316736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CUDA / GPU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5669280" y="1591056"/>
            <a:ext cx="2926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20–50× expected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over sequential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5669280" y="2121408"/>
            <a:ext cx="2926200" cy="6858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5669280" y="2121408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ANN + LSH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5669280" y="2395728"/>
            <a:ext cx="2926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Sub-linear search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time with hashing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5669280" y="2926080"/>
            <a:ext cx="2926200" cy="6858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BC8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5669280" y="292608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Butina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5669280" y="3200400"/>
            <a:ext cx="2926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Standard chemo-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informatics clustering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365760" y="3977640"/>
            <a:ext cx="8412600" cy="6858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161B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548640" y="4005072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Technologies: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1828800" y="4041648"/>
            <a:ext cx="713100" cy="246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4"/>
          <p:cNvSpPr/>
          <p:nvPr/>
        </p:nvSpPr>
        <p:spPr>
          <a:xfrm>
            <a:off x="1828800" y="4041648"/>
            <a:ext cx="713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C++17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2615184" y="4041648"/>
            <a:ext cx="713100" cy="246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2615184" y="4041648"/>
            <a:ext cx="713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OpenMP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3401568" y="4041648"/>
            <a:ext cx="713100" cy="246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4"/>
          <p:cNvSpPr/>
          <p:nvPr/>
        </p:nvSpPr>
        <p:spPr>
          <a:xfrm>
            <a:off x="3401568" y="4041648"/>
            <a:ext cx="713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AVX2/SIMD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4187952" y="4041648"/>
            <a:ext cx="713100" cy="246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4"/>
          <p:cNvSpPr/>
          <p:nvPr/>
        </p:nvSpPr>
        <p:spPr>
          <a:xfrm>
            <a:off x="4187952" y="4041648"/>
            <a:ext cx="713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CMake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4974336" y="4041648"/>
            <a:ext cx="713100" cy="246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4"/>
          <p:cNvSpPr/>
          <p:nvPr/>
        </p:nvSpPr>
        <p:spPr>
          <a:xfrm>
            <a:off x="4974336" y="4041648"/>
            <a:ext cx="713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5760720" y="4041648"/>
            <a:ext cx="713100" cy="246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4"/>
          <p:cNvSpPr/>
          <p:nvPr/>
        </p:nvSpPr>
        <p:spPr>
          <a:xfrm>
            <a:off x="5760720" y="4041648"/>
            <a:ext cx="713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RDKit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6547104" y="4041648"/>
            <a:ext cx="713100" cy="246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4"/>
          <p:cNvSpPr/>
          <p:nvPr/>
        </p:nvSpPr>
        <p:spPr>
          <a:xfrm>
            <a:off x="6547104" y="4041648"/>
            <a:ext cx="713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4"/>
          <p:cNvSpPr/>
          <p:nvPr/>
        </p:nvSpPr>
        <p:spPr>
          <a:xfrm>
            <a:off x="7333488" y="4041648"/>
            <a:ext cx="713100" cy="246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4"/>
          <p:cNvSpPr/>
          <p:nvPr/>
        </p:nvSpPr>
        <p:spPr>
          <a:xfrm>
            <a:off x="7333488" y="4041648"/>
            <a:ext cx="713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8119872" y="4041648"/>
            <a:ext cx="713100" cy="246900"/>
          </a:xfrm>
          <a:prstGeom prst="rect">
            <a:avLst/>
          </a:prstGeom>
          <a:solidFill>
            <a:srgbClr val="1C2333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4"/>
          <p:cNvSpPr/>
          <p:nvPr/>
        </p:nvSpPr>
        <p:spPr>
          <a:xfrm>
            <a:off x="8119872" y="4041648"/>
            <a:ext cx="713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Kaggle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365760" y="4498848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Sequential vs OpenMP vs SIMD+OpenMP — verified correct, measured fast.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1121</Words>
  <Application>Microsoft Office PowerPoint</Application>
  <PresentationFormat>On-screen Show (16:9)</PresentationFormat>
  <Paragraphs>251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1</cp:revision>
  <dcterms:modified xsi:type="dcterms:W3CDTF">2026-04-20T13:03:58Z</dcterms:modified>
</cp:coreProperties>
</file>